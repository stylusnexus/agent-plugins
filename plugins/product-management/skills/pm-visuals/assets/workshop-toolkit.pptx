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"id": "pareto-analysis",</a:t>
            </a:r>
          </a:p>
          <a:p>
            <a:r>
              <a:t>  "title": "Find where the volume concentrates",</a:t>
            </a:r>
          </a:p>
          <a:p>
            <a:r>
              <a:t>  "license": "MIT",</a:t>
            </a:r>
          </a:p>
          <a:p>
            <a:r>
              <a:t>  "source_urls": [</a:t>
            </a:r>
          </a:p>
          <a:p>
            <a:r>
              <a:t>    "https://asq.org/quality-resources/pareto"</a:t>
            </a:r>
          </a:p>
          <a:p>
            <a:r>
              <a:t>  ],</a:t>
            </a:r>
          </a:p>
          <a:p>
            <a:r>
              <a:t>  "license_url": "https://opensource.org/license/mit/",</a:t>
            </a:r>
          </a:p>
          <a:p>
            <a:r>
              <a:t>  "framework_credit": null,</a:t>
            </a:r>
          </a:p>
          <a:p>
            <a:r>
              <a:t>  "attribution": "Stylus Nexus",</a:t>
            </a:r>
          </a:p>
          <a:p>
            <a:r>
              <a:t>  "pareto_context": "Fictional support-ticket example",</a:t>
            </a:r>
          </a:p>
          <a:p>
            <a:r>
              <a:t>  "pareto_unit": "Ticket count",</a:t>
            </a:r>
          </a:p>
          <a:p>
            <a:r>
              <a:t>  "pareto_status": "fictional",</a:t>
            </a:r>
          </a:p>
          <a:p>
            <a:r>
              <a:t>  "changes": "Original Stylus Nexus vector artwork; no source diagram reproduced.",</a:t>
            </a:r>
          </a:p>
          <a:p>
            <a:r>
              <a:t>  "outputs": [</a:t>
            </a:r>
          </a:p>
          <a:p>
            <a:r>
              <a:t>    "pareto-analysis.svg",</a:t>
            </a:r>
          </a:p>
          <a:p>
            <a:r>
              <a:t>    "pareto-analysis.pdf"</a:t>
            </a:r>
          </a:p>
          <a:p>
            <a:r>
              <a:t>  ],</a:t>
            </a:r>
          </a:p>
          <a:p>
            <a:r>
              <a:t>  "combined_page": 1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"id": "five-forces",</a:t>
            </a:r>
          </a:p>
          <a:p>
            <a:r>
              <a:t>  "title": "Read the pressures around an industry",</a:t>
            </a:r>
          </a:p>
          <a:p>
            <a:r>
              <a:t>  "license": "MIT",</a:t>
            </a:r>
          </a:p>
          <a:p>
            <a:r>
              <a:t>  "source_urls": [</a:t>
            </a:r>
          </a:p>
          <a:p>
            <a:r>
              <a:t>    "https://www.isc.hbs.edu/strategy/business-strategy/Pages/the-five-forces.aspx"</a:t>
            </a:r>
          </a:p>
          <a:p>
            <a:r>
              <a:t>  ],</a:t>
            </a:r>
          </a:p>
          <a:p>
            <a:r>
              <a:t>  "license_url": "https://opensource.org/license/mit/",</a:t>
            </a:r>
          </a:p>
          <a:p>
            <a:r>
              <a:t>  "framework_credit": "Michael E. Porter",</a:t>
            </a:r>
          </a:p>
          <a:p>
            <a:r>
              <a:t>  "attribution": "Stylus Nexus",</a:t>
            </a:r>
          </a:p>
          <a:p>
            <a:r>
              <a:t>  "changes": "Original Stylus Nexus vector artwork; no source diagram reproduced.",</a:t>
            </a:r>
          </a:p>
          <a:p>
            <a:r>
              <a:t>  "outputs": [</a:t>
            </a:r>
          </a:p>
          <a:p>
            <a:r>
              <a:t>    "five-forces.svg",</a:t>
            </a:r>
          </a:p>
          <a:p>
            <a:r>
              <a:t>    "five-forces.pdf"</a:t>
            </a:r>
          </a:p>
          <a:p>
            <a:r>
              <a:t>  ],</a:t>
            </a:r>
          </a:p>
          <a:p>
            <a:r>
              <a:t>  "combined_page": 2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"id": "outcome-roadmap",</a:t>
            </a:r>
          </a:p>
          <a:p>
            <a:r>
              <a:t>  "title": "Sequence outcomes, then commit to learning",</a:t>
            </a:r>
          </a:p>
          <a:p>
            <a:r>
              <a:t>  "license": "MIT",</a:t>
            </a:r>
          </a:p>
          <a:p>
            <a:r>
              <a:t>  "source_urls": [</a:t>
            </a:r>
          </a:p>
          <a:p>
            <a:r>
              <a:t>    "https://www.prodpad.com/blog/invented-now-next-later-roadmap/"</a:t>
            </a:r>
          </a:p>
          <a:p>
            <a:r>
              <a:t>  ],</a:t>
            </a:r>
          </a:p>
          <a:p>
            <a:r>
              <a:t>  "license_url": "https://opensource.org/license/mit/",</a:t>
            </a:r>
          </a:p>
          <a:p>
            <a:r>
              <a:t>  "framework_credit": "Janna Bastow (Now / Next / Later)",</a:t>
            </a:r>
          </a:p>
          <a:p>
            <a:r>
              <a:t>  "attribution": "Stylus Nexus",</a:t>
            </a:r>
          </a:p>
          <a:p>
            <a:r>
              <a:t>  "changes": "Original Stylus Nexus vector artwork; no source diagram reproduced.",</a:t>
            </a:r>
          </a:p>
          <a:p>
            <a:r>
              <a:t>  "outputs": [</a:t>
            </a:r>
          </a:p>
          <a:p>
            <a:r>
              <a:t>    "outcome-roadmap.svg",</a:t>
            </a:r>
          </a:p>
          <a:p>
            <a:r>
              <a:t>    "outcome-roadmap.pdf"</a:t>
            </a:r>
          </a:p>
          <a:p>
            <a:r>
              <a:t>  ],</a:t>
            </a:r>
          </a:p>
          <a:p>
            <a:r>
              <a:t>  "combined_page": 3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"id": "value-curve",</a:t>
            </a:r>
          </a:p>
          <a:p>
            <a:r>
              <a:t>  "title": "Make differences in value explicit",</a:t>
            </a:r>
          </a:p>
          <a:p>
            <a:r>
              <a:t>  "license": "MIT",</a:t>
            </a:r>
          </a:p>
          <a:p>
            <a:r>
              <a:t>  "source_urls": [],</a:t>
            </a:r>
          </a:p>
          <a:p>
            <a:r>
              <a:t>  "license_url": "https://opensource.org/license/mit/",</a:t>
            </a:r>
          </a:p>
          <a:p>
            <a:r>
              <a:t>  "framework_credit": null,</a:t>
            </a:r>
          </a:p>
          <a:p>
            <a:r>
              <a:t>  "attribution": "Stylus Nexus",</a:t>
            </a:r>
          </a:p>
          <a:p>
            <a:r>
              <a:t>  "changes": "Original Stylus Nexus vector artwork; no source diagram reproduced.",</a:t>
            </a:r>
          </a:p>
          <a:p>
            <a:r>
              <a:t>  "outputs": [</a:t>
            </a:r>
          </a:p>
          <a:p>
            <a:r>
              <a:t>    "value-curve.svg",</a:t>
            </a:r>
          </a:p>
          <a:p>
            <a:r>
              <a:t>    "value-curve.pdf"</a:t>
            </a:r>
          </a:p>
          <a:p>
            <a:r>
              <a:t>  ],</a:t>
            </a:r>
          </a:p>
          <a:p>
            <a:r>
              <a:t>  "combined_page": 4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"id": "assumption-map",</a:t>
            </a:r>
          </a:p>
          <a:p>
            <a:r>
              <a:t>  "title": "Test the assumptions that can break the plan",</a:t>
            </a:r>
          </a:p>
          <a:p>
            <a:r>
              <a:t>  "license": "MIT",</a:t>
            </a:r>
          </a:p>
          <a:p>
            <a:r>
              <a:t>  "source_urls": [],</a:t>
            </a:r>
          </a:p>
          <a:p>
            <a:r>
              <a:t>  "license_url": "https://opensource.org/license/mit/",</a:t>
            </a:r>
          </a:p>
          <a:p>
            <a:r>
              <a:t>  "framework_credit": null,</a:t>
            </a:r>
          </a:p>
          <a:p>
            <a:r>
              <a:t>  "attribution": "Stylus Nexus",</a:t>
            </a:r>
          </a:p>
          <a:p>
            <a:r>
              <a:t>  "changes": "Original Stylus Nexus vector artwork; no source diagram reproduced.",</a:t>
            </a:r>
          </a:p>
          <a:p>
            <a:r>
              <a:t>  "outputs": [</a:t>
            </a:r>
          </a:p>
          <a:p>
            <a:r>
              <a:t>    "assumption-map.svg",</a:t>
            </a:r>
          </a:p>
          <a:p>
            <a:r>
              <a:t>    "assumption-map.pdf"</a:t>
            </a:r>
          </a:p>
          <a:p>
            <a:r>
              <a:t>  ],</a:t>
            </a:r>
          </a:p>
          <a:p>
            <a:r>
              <a:t>  "combined_page": 5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"id": "customer-journey",</a:t>
            </a:r>
          </a:p>
          <a:p>
            <a:r>
              <a:t>  "title": "Follow the job through the customer’s eyes",</a:t>
            </a:r>
          </a:p>
          <a:p>
            <a:r>
              <a:t>  "license": "MIT",</a:t>
            </a:r>
          </a:p>
          <a:p>
            <a:r>
              <a:t>  "source_urls": [],</a:t>
            </a:r>
          </a:p>
          <a:p>
            <a:r>
              <a:t>  "license_url": "https://opensource.org/license/mit/",</a:t>
            </a:r>
          </a:p>
          <a:p>
            <a:r>
              <a:t>  "framework_credit": null,</a:t>
            </a:r>
          </a:p>
          <a:p>
            <a:r>
              <a:t>  "attribution": "Stylus Nexus",</a:t>
            </a:r>
          </a:p>
          <a:p>
            <a:r>
              <a:t>  "changes": "Original Stylus Nexus vector artwork; no source diagram reproduced.",</a:t>
            </a:r>
          </a:p>
          <a:p>
            <a:r>
              <a:t>  "outputs": [</a:t>
            </a:r>
          </a:p>
          <a:p>
            <a:r>
              <a:t>    "customer-journey.svg",</a:t>
            </a:r>
          </a:p>
          <a:p>
            <a:r>
              <a:t>    "customer-journey.pdf"</a:t>
            </a:r>
          </a:p>
          <a:p>
            <a:r>
              <a:t>  ],</a:t>
            </a:r>
          </a:p>
          <a:p>
            <a:r>
              <a:t>  "combined_page": 6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"id": "strategy-canvas",</a:t>
            </a:r>
          </a:p>
          <a:p>
            <a:r>
              <a:t>  "title": "Product Strategy Canvas",</a:t>
            </a:r>
          </a:p>
          <a:p>
            <a:r>
              <a:t>  "license": "CC-BY-SA-4.0",</a:t>
            </a:r>
          </a:p>
          <a:p>
            <a:r>
              <a:t>  "source_urls": [</a:t>
            </a:r>
          </a:p>
          <a:p>
            <a:r>
              <a:t>    "https://www.productcompass.pm/p/product-strategy-canvas"</a:t>
            </a:r>
          </a:p>
          <a:p>
            <a:r>
              <a:t>  ],</a:t>
            </a:r>
          </a:p>
          <a:p>
            <a:r>
              <a:t>  "license_url": "https://creativecommons.org/licenses/by-sa/4.0/",</a:t>
            </a:r>
          </a:p>
          <a:p>
            <a:r>
              <a:t>  "framework_credit": null,</a:t>
            </a:r>
          </a:p>
          <a:p>
            <a:r>
              <a:t>  "attribution": "Paweł Huryn / The Product Compass, Product Strategy Canvas v1.2, © 2024",</a:t>
            </a:r>
          </a:p>
          <a:p>
            <a:r>
              <a:t>  "changes": "Original vector layout adapted from the bundled Markdown template; prompts condensed for workshop use.",</a:t>
            </a:r>
          </a:p>
          <a:p>
            <a:r>
              <a:t>  "outputs": [</a:t>
            </a:r>
          </a:p>
          <a:p>
            <a:r>
              <a:t>    "strategy-canvas.svg",</a:t>
            </a:r>
          </a:p>
          <a:p>
            <a:r>
              <a:t>    "strategy-canvas.pdf"</a:t>
            </a:r>
          </a:p>
          <a:p>
            <a:r>
              <a:t>  ],</a:t>
            </a:r>
          </a:p>
          <a:p>
            <a:r>
              <a:t>  "combined_page": 7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"id": "value-proposition",</a:t>
            </a:r>
          </a:p>
          <a:p>
            <a:r>
              <a:t>  "title": "Connect customer progress to a credible promise",</a:t>
            </a:r>
          </a:p>
          <a:p>
            <a:r>
              <a:t>  "license": "CC-BY-SA-4.0",</a:t>
            </a:r>
          </a:p>
          <a:p>
            <a:r>
              <a:t>  "source_urls": [</a:t>
            </a:r>
          </a:p>
          <a:p>
            <a:r>
              <a:t>    "https://www.productcompass.pm/p/how-to-design-value-proposition-template"</a:t>
            </a:r>
          </a:p>
          <a:p>
            <a:r>
              <a:t>  ],</a:t>
            </a:r>
          </a:p>
          <a:p>
            <a:r>
              <a:t>  "license_url": "https://creativecommons.org/licenses/by-sa/4.0/",</a:t>
            </a:r>
          </a:p>
          <a:p>
            <a:r>
              <a:t>  "framework_credit": null,</a:t>
            </a:r>
          </a:p>
          <a:p>
            <a:r>
              <a:t>  "attribution": "The Product Compass &amp; Behind Product Lines; Paweł Huryn and Aatir Abdul Rauf",</a:t>
            </a:r>
          </a:p>
          <a:p>
            <a:r>
              <a:t>  "changes": "Original vector layout adapted from the bundled Markdown template; prompts condensed for workshop use.",</a:t>
            </a:r>
          </a:p>
          <a:p>
            <a:r>
              <a:t>  "outputs": [</a:t>
            </a:r>
          </a:p>
          <a:p>
            <a:r>
              <a:t>    "value-proposition.svg",</a:t>
            </a:r>
          </a:p>
          <a:p>
            <a:r>
              <a:t>    "value-proposition.pdf"</a:t>
            </a:r>
          </a:p>
          <a:p>
            <a:r>
              <a:t>  ],</a:t>
            </a:r>
          </a:p>
          <a:p>
            <a:r>
              <a:t>  "combined_page": 8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2558684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087F78"/>
                </a:solidFill>
                <a:latin typeface="Arial"/>
              </a:defRPr>
            </a:pPr>
            <a:r>
              <a:t>STYLUS NEXUS  /  PRODUCT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9600"/>
            <a:ext cx="6636916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203B3B"/>
                </a:solidFill>
                <a:latin typeface="Arial"/>
              </a:defRPr>
            </a:pPr>
            <a:r>
              <a:t>Find where the volume concentrates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7600"/>
            <a:ext cx="5294539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526B69"/>
                </a:solidFill>
                <a:latin typeface="Arial"/>
              </a:defRPr>
            </a:pPr>
            <a:r>
              <a:t>Pareto analysis · Fictional support-ticket example · Priority still needs judgment.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859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3246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02400"/>
            <a:ext cx="4261142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526B69"/>
                </a:solidFill>
                <a:latin typeface="Arial"/>
              </a:defRPr>
            </a:pPr>
            <a:r>
              <a:t>Original Stylus Nexus artwork · MIT · Working template: replace prompts with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1727200"/>
            <a:ext cx="894511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526B69"/>
                </a:solidFill>
                <a:latin typeface="Arial"/>
              </a:defRPr>
            </a:pPr>
            <a:r>
              <a:t>Ticket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5700" y="1727200"/>
            <a:ext cx="98430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526B69"/>
                </a:solidFill>
                <a:latin typeface="Arial"/>
              </a:defRPr>
            </a:pPr>
            <a:r>
              <a:t>Cumulative 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90600" y="5257800"/>
            <a:ext cx="71374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6100" y="5181600"/>
            <a:ext cx="1764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2300" y="5181600"/>
            <a:ext cx="29612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0%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600" y="4464050"/>
            <a:ext cx="71374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6100" y="4387850"/>
            <a:ext cx="25129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2300" y="4387850"/>
            <a:ext cx="37097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25%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0600" y="3670300"/>
            <a:ext cx="71374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6100" y="3594100"/>
            <a:ext cx="25129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2300" y="3594100"/>
            <a:ext cx="37097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50%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0600" y="2876550"/>
            <a:ext cx="71374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6100" y="2800350"/>
            <a:ext cx="25129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2300" y="2800350"/>
            <a:ext cx="37097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75%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90600" y="2082800"/>
            <a:ext cx="71374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6100" y="2006600"/>
            <a:ext cx="25129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2300" y="2006600"/>
            <a:ext cx="44582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100%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0600" y="5257800"/>
            <a:ext cx="7137400" cy="0"/>
          </a:xfrm>
          <a:prstGeom prst="line">
            <a:avLst/>
          </a:prstGeom>
          <a:ln w="12700">
            <a:solidFill>
              <a:srgbClr val="20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90600" y="2717800"/>
            <a:ext cx="7137400" cy="0"/>
          </a:xfrm>
          <a:prstGeom prst="line">
            <a:avLst/>
          </a:prstGeom>
          <a:ln w="19050">
            <a:solidFill>
              <a:srgbClr val="C78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320800" y="2082800"/>
            <a:ext cx="762000" cy="3175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17065" y="2197100"/>
            <a:ext cx="281236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63700" y="3949700"/>
            <a:ext cx="76200" cy="76200"/>
          </a:xfrm>
          <a:prstGeom prst="rect">
            <a:avLst/>
          </a:prstGeom>
          <a:solidFill>
            <a:srgbClr val="C7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5300" y="3759200"/>
            <a:ext cx="444500" cy="1778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90700" y="3771900"/>
            <a:ext cx="37097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98601D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410200"/>
            <a:ext cx="869135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203B3B"/>
                </a:solidFill>
                <a:latin typeface="Arial"/>
              </a:defRPr>
            </a:pPr>
            <a:r>
              <a:t>Sign-in friction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3273425"/>
            <a:ext cx="762000" cy="1984375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39465" y="3387725"/>
            <a:ext cx="281236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1701800" y="3194050"/>
            <a:ext cx="1422400" cy="793750"/>
          </a:xfrm>
          <a:prstGeom prst="line">
            <a:avLst/>
          </a:prstGeom>
          <a:ln w="31750">
            <a:solidFill>
              <a:srgbClr val="C78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086100" y="3155950"/>
            <a:ext cx="76200" cy="76200"/>
          </a:xfrm>
          <a:prstGeom prst="rect">
            <a:avLst/>
          </a:prstGeom>
          <a:solidFill>
            <a:srgbClr val="C7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87700" y="2965450"/>
            <a:ext cx="444500" cy="1778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13100" y="2978150"/>
            <a:ext cx="37097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98601D"/>
                </a:solidFill>
                <a:latin typeface="Arial"/>
              </a:defRPr>
            </a:pPr>
            <a:r>
              <a:t>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5400" y="5410200"/>
            <a:ext cx="976966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203B3B"/>
                </a:solidFill>
                <a:latin typeface="Arial"/>
              </a:defRPr>
            </a:pPr>
            <a:r>
              <a:t>Billing questions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5600" y="4067175"/>
            <a:ext cx="762000" cy="1190625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61865" y="4181475"/>
            <a:ext cx="281236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3124200" y="2717800"/>
            <a:ext cx="1422400" cy="476250"/>
          </a:xfrm>
          <a:prstGeom prst="line">
            <a:avLst/>
          </a:prstGeom>
          <a:ln w="31750">
            <a:solidFill>
              <a:srgbClr val="C78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508500" y="2679700"/>
            <a:ext cx="76200" cy="76200"/>
          </a:xfrm>
          <a:prstGeom prst="rect">
            <a:avLst/>
          </a:prstGeom>
          <a:solidFill>
            <a:srgbClr val="C7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10100" y="2489200"/>
            <a:ext cx="444500" cy="1778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35500" y="2501900"/>
            <a:ext cx="37097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98601D"/>
                </a:solidFill>
                <a:latin typeface="Arial"/>
              </a:defRPr>
            </a:pPr>
            <a:r>
              <a:t>80%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87800" y="5410200"/>
            <a:ext cx="896154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203B3B"/>
                </a:solidFill>
                <a:latin typeface="Arial"/>
              </a:defRPr>
            </a:pPr>
            <a:r>
              <a:t>Slow response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88000" y="4305300"/>
            <a:ext cx="762000" cy="952500"/>
          </a:xfrm>
          <a:prstGeom prst="rect">
            <a:avLst/>
          </a:prstGeom>
          <a:solidFill>
            <a:srgbClr val="91B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84265" y="4419600"/>
            <a:ext cx="281236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4546600" y="2336800"/>
            <a:ext cx="1422400" cy="381000"/>
          </a:xfrm>
          <a:prstGeom prst="line">
            <a:avLst/>
          </a:prstGeom>
          <a:ln w="31750">
            <a:solidFill>
              <a:srgbClr val="C78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930900" y="2298700"/>
            <a:ext cx="76200" cy="76200"/>
          </a:xfrm>
          <a:prstGeom prst="rect">
            <a:avLst/>
          </a:prstGeom>
          <a:solidFill>
            <a:srgbClr val="C7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032500" y="2108200"/>
            <a:ext cx="444500" cy="1778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57900" y="2120900"/>
            <a:ext cx="37097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98601D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10200" y="5410200"/>
            <a:ext cx="794987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203B3B"/>
                </a:solidFill>
                <a:latin typeface="Arial"/>
              </a:defRPr>
            </a:pPr>
            <a:r>
              <a:t>Import errors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10400" y="4622800"/>
            <a:ext cx="762000" cy="635000"/>
          </a:xfrm>
          <a:prstGeom prst="rect">
            <a:avLst/>
          </a:prstGeom>
          <a:solidFill>
            <a:srgbClr val="91B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49032" y="4737100"/>
            <a:ext cx="191418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5969000" y="2082800"/>
            <a:ext cx="1422400" cy="254000"/>
          </a:xfrm>
          <a:prstGeom prst="line">
            <a:avLst/>
          </a:prstGeom>
          <a:ln w="31750">
            <a:solidFill>
              <a:srgbClr val="C78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7353300" y="2044700"/>
            <a:ext cx="76200" cy="76200"/>
          </a:xfrm>
          <a:prstGeom prst="rect">
            <a:avLst/>
          </a:prstGeom>
          <a:solidFill>
            <a:srgbClr val="C7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54900" y="1854200"/>
            <a:ext cx="444500" cy="1778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80300" y="1866900"/>
            <a:ext cx="44582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98601D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2600" y="5410200"/>
            <a:ext cx="404616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203B3B"/>
                </a:solidFill>
                <a:latin typeface="Arial"/>
              </a:defRPr>
            </a:pPr>
            <a:r>
              <a:t>Other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86500" y="2794000"/>
            <a:ext cx="923172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98601D"/>
                </a:solidFill>
                <a:latin typeface="Arial"/>
              </a:defRPr>
            </a:pPr>
            <a:r>
              <a:t>80% reference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87700" y="5740400"/>
            <a:ext cx="187481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Category · sorted by measure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17000" y="1943100"/>
            <a:ext cx="271780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17000" y="1943100"/>
            <a:ext cx="50800" cy="17145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20200" y="2108200"/>
            <a:ext cx="1482397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Read the pattern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20200" y="2438400"/>
            <a:ext cx="196347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First three categories account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20200" y="2667000"/>
            <a:ext cx="179866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for 80.0% of total measure.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20200" y="2895600"/>
            <a:ext cx="1861419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The 80% line is a reference,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20200" y="3124200"/>
            <a:ext cx="1311423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not a universal law.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017000" y="3873500"/>
            <a:ext cx="27178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017000" y="3873500"/>
            <a:ext cx="50800" cy="2159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20200" y="4038600"/>
            <a:ext cx="1608751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Before prioritizing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20200" y="4368800"/>
            <a:ext cx="1704237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Check severity and effort.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20200" y="4597400"/>
            <a:ext cx="197506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Check sample + time window.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20200" y="4826000"/>
            <a:ext cx="1633562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Ask what is preventable.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20200" y="5054600"/>
            <a:ext cx="1016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</a:p>
        </p:txBody>
      </p:sp>
      <p:sp>
        <p:nvSpPr>
          <p:cNvPr id="78" name="TextBox 77"/>
          <p:cNvSpPr txBox="1"/>
          <p:nvPr/>
        </p:nvSpPr>
        <p:spPr>
          <a:xfrm>
            <a:off x="9220200" y="5283200"/>
            <a:ext cx="1822407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Decision: ______________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20200" y="5511800"/>
            <a:ext cx="1806717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Owner / test: ___________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0600" y="6007100"/>
            <a:ext cx="3273031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Bars: measure (left) · Line: cumulative % (right) · Total: 100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0600" y="6172200"/>
            <a:ext cx="939474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526B69"/>
                </a:solidFill>
                <a:latin typeface="Arial"/>
              </a:defRPr>
            </a:pPr>
            <a:r>
              <a:t>Fictional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2558684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087F78"/>
                </a:solidFill>
                <a:latin typeface="Arial"/>
              </a:defRPr>
            </a:pPr>
            <a:r>
              <a:t>STYLUS NEXUS  /  PRODUCT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9600"/>
            <a:ext cx="711864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203B3B"/>
                </a:solidFill>
                <a:latin typeface="Arial"/>
              </a:defRPr>
            </a:pPr>
            <a:r>
              <a:t>Read the pressures around an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7600"/>
            <a:ext cx="6236785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526B69"/>
                </a:solidFill>
                <a:latin typeface="Arial"/>
              </a:defRPr>
            </a:pPr>
            <a:r>
              <a:t>Porter's Five Forces · Define the industry and geography before judging competitive pressure.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859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3246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02400"/>
            <a:ext cx="4261142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526B69"/>
                </a:solidFill>
                <a:latin typeface="Arial"/>
              </a:defRPr>
            </a:pPr>
            <a:r>
              <a:t>Original Stylus Nexus artwork · MIT · Working template: replace prompts with evidence.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3035300"/>
            <a:ext cx="0" cy="215900"/>
          </a:xfrm>
          <a:prstGeom prst="line">
            <a:avLst/>
          </a:prstGeom>
          <a:ln w="254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4406900"/>
            <a:ext cx="0" cy="215900"/>
          </a:xfrm>
          <a:prstGeom prst="line">
            <a:avLst/>
          </a:prstGeom>
          <a:ln w="254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962400" y="3810000"/>
            <a:ext cx="304800" cy="0"/>
          </a:xfrm>
          <a:prstGeom prst="line">
            <a:avLst/>
          </a:prstGeom>
          <a:ln w="254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24800" y="3810000"/>
            <a:ext cx="304800" cy="0"/>
          </a:xfrm>
          <a:prstGeom prst="line">
            <a:avLst/>
          </a:prstGeom>
          <a:ln w="254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267200" y="1739900"/>
            <a:ext cx="36576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7200" y="1739900"/>
            <a:ext cx="50800" cy="12954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0400" y="1905000"/>
            <a:ext cx="1978364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Threat of new entrants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0400" y="2235200"/>
            <a:ext cx="2465978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Entry barriers, scale, switching costs?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400" y="2463800"/>
            <a:ext cx="2584571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Evidence: __________  Pressure: 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87700"/>
            <a:ext cx="35052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87700"/>
            <a:ext cx="50800" cy="13335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400" y="3352800"/>
            <a:ext cx="230912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Supplier bargaining 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400" y="3683000"/>
            <a:ext cx="2042207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Concentration? Unique inputs?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00" y="3911600"/>
            <a:ext cx="2325051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Switching costs? Evidence: ______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200" y="3251200"/>
            <a:ext cx="3657600" cy="11557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1200" y="3479800"/>
            <a:ext cx="2862185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Rivalry among existing firms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1200" y="3835400"/>
            <a:ext cx="2488237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rial"/>
              </a:defRPr>
            </a:pPr>
            <a:r>
              <a:t>Growth, differentiation, exit barriers?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1200" y="4102100"/>
            <a:ext cx="230182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rial"/>
              </a:defRPr>
            </a:pPr>
            <a:r>
              <a:t>Industry boundary: ______________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187700"/>
            <a:ext cx="35052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187700"/>
            <a:ext cx="50800" cy="13335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2800" y="3352800"/>
            <a:ext cx="2104893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Buyer bargaining power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2800" y="3683000"/>
            <a:ext cx="215189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Concentration? Price sensitivity?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2800" y="3911600"/>
            <a:ext cx="2325192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Alternatives? Evidence: _________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67200" y="4622800"/>
            <a:ext cx="36576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67200" y="4622800"/>
            <a:ext cx="50800" cy="13208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70400" y="4787900"/>
            <a:ext cx="183240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Threat of substitutes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0400" y="5118100"/>
            <a:ext cx="238003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Other ways to meet the same need?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0400" y="5346700"/>
            <a:ext cx="248195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Price / performance? Switching ease?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000" y="4851400"/>
            <a:ext cx="1495038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087F78"/>
                </a:solidFill>
                <a:latin typeface="Arial"/>
              </a:defRPr>
            </a:pPr>
            <a:r>
              <a:t>WORKSHOP QUESTION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000" y="5105400"/>
            <a:ext cx="2611737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203B3B"/>
                </a:solidFill>
                <a:latin typeface="Arial"/>
              </a:defRPr>
            </a:pPr>
            <a:r>
              <a:t>Which pressure changes our choices?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8000" y="5384800"/>
            <a:ext cx="2354331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Response: _____________________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5000" y="4965700"/>
            <a:ext cx="188194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Framework: Michael E. Porter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5000" y="5245100"/>
            <a:ext cx="239108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Assess evidence, direction and timing.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5000" y="5524500"/>
            <a:ext cx="245071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High / medium / low is a discussion aid.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2558684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087F78"/>
                </a:solidFill>
                <a:latin typeface="Arial"/>
              </a:defRPr>
            </a:pPr>
            <a:r>
              <a:t>STYLUS NEXUS  /  PRODUCT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9600"/>
            <a:ext cx="8249448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203B3B"/>
                </a:solidFill>
                <a:latin typeface="Arial"/>
              </a:defRPr>
            </a:pPr>
            <a:r>
              <a:t>Sequence outcomes, then commit to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7600"/>
            <a:ext cx="6216794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526B69"/>
                </a:solidFill>
                <a:latin typeface="Arial"/>
              </a:defRPr>
            </a:pPr>
            <a:r>
              <a:t>Now / Next / Later · Horizons express confidence and sequence, not promised delivery dates.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859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3246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02400"/>
            <a:ext cx="4261142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526B69"/>
                </a:solidFill>
                <a:latin typeface="Arial"/>
              </a:defRPr>
            </a:pPr>
            <a:r>
              <a:t>Original Stylus Nexus artwork · MIT · Working template: replace prompts with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78000"/>
            <a:ext cx="3606800" cy="6223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3100" y="1917700"/>
            <a:ext cx="759622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2628900"/>
            <a:ext cx="1210438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87F78"/>
                </a:solidFill>
                <a:latin typeface="Arial"/>
              </a:defRPr>
            </a:pPr>
            <a:r>
              <a:t>Act + 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3098800"/>
            <a:ext cx="2553353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203B3B"/>
                </a:solidFill>
                <a:latin typeface="Arial"/>
              </a:defRPr>
            </a:pPr>
            <a:r>
              <a:t>Outcome: 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3606800"/>
            <a:ext cx="2461273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203B3B"/>
                </a:solidFill>
                <a:latin typeface="Arial"/>
              </a:defRPr>
            </a:pPr>
            <a:r>
              <a:t>Baseline → target: 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100" y="4114800"/>
            <a:ext cx="242751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203B3B"/>
                </a:solidFill>
                <a:latin typeface="Arial"/>
              </a:defRPr>
            </a:pPr>
            <a:r>
              <a:t>Smallest bet: 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" y="4622800"/>
            <a:ext cx="2436233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203B3B"/>
                </a:solidFill>
                <a:latin typeface="Arial"/>
              </a:defRPr>
            </a:pPr>
            <a:r>
              <a:t>Owner / review: _____________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3100" y="5334000"/>
            <a:ext cx="31750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92600" y="1778000"/>
            <a:ext cx="3606800" cy="6223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8500" y="1917700"/>
            <a:ext cx="819663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500" y="2628900"/>
            <a:ext cx="1488939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87F78"/>
                </a:solidFill>
                <a:latin typeface="Arial"/>
              </a:defRPr>
            </a:pPr>
            <a:r>
              <a:t>Prepare + 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8500" y="3098800"/>
            <a:ext cx="2553353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203B3B"/>
                </a:solidFill>
                <a:latin typeface="Arial"/>
              </a:defRPr>
            </a:pPr>
            <a:r>
              <a:t>Outcome: ___________________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500" y="3606800"/>
            <a:ext cx="2454326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203B3B"/>
                </a:solidFill>
                <a:latin typeface="Arial"/>
              </a:defRPr>
            </a:pPr>
            <a:r>
              <a:t>What must be true? 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8500" y="4114800"/>
            <a:ext cx="2409579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203B3B"/>
                </a:solidFill>
                <a:latin typeface="Arial"/>
              </a:defRPr>
            </a:pPr>
            <a:r>
              <a:t>Evidence to advance: ________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8500" y="4622800"/>
            <a:ext cx="2535421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203B3B"/>
                </a:solidFill>
                <a:latin typeface="Arial"/>
              </a:defRPr>
            </a:pPr>
            <a:r>
              <a:t>Dependency: ________________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08500" y="5334000"/>
            <a:ext cx="31750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128000" y="1778000"/>
            <a:ext cx="3606800" cy="6223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3900" y="1917700"/>
            <a:ext cx="998976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LATER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3900" y="2628900"/>
            <a:ext cx="2180025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87F78"/>
                </a:solidFill>
                <a:latin typeface="Arial"/>
              </a:defRPr>
            </a:pPr>
            <a:r>
              <a:t>Explore + preserve options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3900" y="3098800"/>
            <a:ext cx="2373716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203B3B"/>
                </a:solidFill>
                <a:latin typeface="Arial"/>
              </a:defRPr>
            </a:pPr>
            <a:r>
              <a:t>Opportunity: _______________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3900" y="3606800"/>
            <a:ext cx="2391324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203B3B"/>
                </a:solidFill>
                <a:latin typeface="Arial"/>
              </a:defRPr>
            </a:pPr>
            <a:r>
              <a:t>Why it matters: 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3900" y="4114800"/>
            <a:ext cx="2274689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203B3B"/>
                </a:solidFill>
                <a:latin typeface="Arial"/>
              </a:defRPr>
            </a:pPr>
            <a:r>
              <a:t>Signal to revisit: 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3900" y="4622800"/>
            <a:ext cx="2337045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203B3B"/>
                </a:solidFill>
                <a:latin typeface="Arial"/>
              </a:defRPr>
            </a:pPr>
            <a:r>
              <a:t>What we will not promise: ____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43900" y="5334000"/>
            <a:ext cx="31750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73100" y="5727700"/>
            <a:ext cx="7339094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526B69"/>
                </a:solidFill>
                <a:latin typeface="Arial"/>
              </a:defRPr>
            </a:pPr>
            <a:r>
              <a:t>Decision at review: continue / change / stop     ·     Link each bet to an outcome and current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2558684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087F78"/>
                </a:solidFill>
                <a:latin typeface="Arial"/>
              </a:defRPr>
            </a:pPr>
            <a:r>
              <a:t>STYLUS NEXUS  /  PRODUCT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9600"/>
            <a:ext cx="6072266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203B3B"/>
                </a:solidFill>
                <a:latin typeface="Arial"/>
              </a:defRPr>
            </a:pPr>
            <a:r>
              <a:t>Make differences in value explicit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7600"/>
            <a:ext cx="6496076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526B69"/>
                </a:solidFill>
                <a:latin typeface="Arial"/>
              </a:defRPr>
            </a:pPr>
            <a:r>
              <a:t>Illustrative strategy profile · Fictional relative scores; validate with your chosen customer segment.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859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3246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02400"/>
            <a:ext cx="4261142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526B69"/>
                </a:solidFill>
                <a:latin typeface="Arial"/>
              </a:defRPr>
            </a:pPr>
            <a:r>
              <a:t>Original Stylus Nexus artwork · MIT · Working template: replace prompts with evidence.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06500" y="5156200"/>
            <a:ext cx="70485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9000" y="5080000"/>
            <a:ext cx="1764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06500" y="4445000"/>
            <a:ext cx="70485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9000" y="4368800"/>
            <a:ext cx="1764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06500" y="3733800"/>
            <a:ext cx="70485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89000" y="3657600"/>
            <a:ext cx="1764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06500" y="3022600"/>
            <a:ext cx="70485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9000" y="2946400"/>
            <a:ext cx="1764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06500" y="2311400"/>
            <a:ext cx="70485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9000" y="2235200"/>
            <a:ext cx="1764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100" y="1765300"/>
            <a:ext cx="2471948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526B69"/>
                </a:solidFill>
                <a:latin typeface="Arial"/>
              </a:defRPr>
            </a:pPr>
            <a:r>
              <a:t>Relative offering level · 1 low, 5 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46200" y="4394200"/>
            <a:ext cx="101600" cy="101600"/>
          </a:xfrm>
          <a:prstGeom prst="rect">
            <a:avLst/>
          </a:prstGeom>
          <a:solidFill>
            <a:srgbClr val="C7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1397000" y="3733800"/>
            <a:ext cx="1651000" cy="711200"/>
          </a:xfrm>
          <a:prstGeom prst="line">
            <a:avLst/>
          </a:prstGeom>
          <a:ln w="38100">
            <a:solidFill>
              <a:srgbClr val="C78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997200" y="3683000"/>
            <a:ext cx="101600" cy="101600"/>
          </a:xfrm>
          <a:prstGeom prst="rect">
            <a:avLst/>
          </a:prstGeom>
          <a:solidFill>
            <a:srgbClr val="C7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048000" y="2311400"/>
            <a:ext cx="1651000" cy="1422400"/>
          </a:xfrm>
          <a:prstGeom prst="line">
            <a:avLst/>
          </a:prstGeom>
          <a:ln w="38100">
            <a:solidFill>
              <a:srgbClr val="C78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648200" y="2260600"/>
            <a:ext cx="101600" cy="101600"/>
          </a:xfrm>
          <a:prstGeom prst="rect">
            <a:avLst/>
          </a:prstGeom>
          <a:solidFill>
            <a:srgbClr val="C7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699000" y="2311400"/>
            <a:ext cx="1651000" cy="2133600"/>
          </a:xfrm>
          <a:prstGeom prst="line">
            <a:avLst/>
          </a:prstGeom>
          <a:ln w="38100">
            <a:solidFill>
              <a:srgbClr val="C78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299200" y="4394200"/>
            <a:ext cx="101600" cy="101600"/>
          </a:xfrm>
          <a:prstGeom prst="rect">
            <a:avLst/>
          </a:prstGeom>
          <a:solidFill>
            <a:srgbClr val="C7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6350000" y="3022600"/>
            <a:ext cx="1651000" cy="1422400"/>
          </a:xfrm>
          <a:prstGeom prst="line">
            <a:avLst/>
          </a:prstGeom>
          <a:ln w="38100">
            <a:solidFill>
              <a:srgbClr val="C78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950200" y="2971800"/>
            <a:ext cx="101600" cy="101600"/>
          </a:xfrm>
          <a:prstGeom prst="rect">
            <a:avLst/>
          </a:prstGeom>
          <a:solidFill>
            <a:srgbClr val="C7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46200" y="2971800"/>
            <a:ext cx="101600" cy="1016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397000" y="3022600"/>
            <a:ext cx="103187" cy="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603375" y="3022600"/>
            <a:ext cx="103187" cy="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09750" y="3022600"/>
            <a:ext cx="103187" cy="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016125" y="3022600"/>
            <a:ext cx="103187" cy="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22500" y="3022600"/>
            <a:ext cx="103187" cy="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428875" y="3022600"/>
            <a:ext cx="103187" cy="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635250" y="3022600"/>
            <a:ext cx="103187" cy="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841625" y="3022600"/>
            <a:ext cx="103187" cy="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997200" y="2971800"/>
            <a:ext cx="101600" cy="1016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3048000" y="3022600"/>
            <a:ext cx="103187" cy="8890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254375" y="3200400"/>
            <a:ext cx="103187" cy="8890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460750" y="3378200"/>
            <a:ext cx="103187" cy="8890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667125" y="3556000"/>
            <a:ext cx="103187" cy="8890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873500" y="3733800"/>
            <a:ext cx="103187" cy="8890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079875" y="3911600"/>
            <a:ext cx="103187" cy="8890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86250" y="4089400"/>
            <a:ext cx="103187" cy="8890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92625" y="4267200"/>
            <a:ext cx="103187" cy="8890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648200" y="4394200"/>
            <a:ext cx="101600" cy="1016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699000" y="431165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375" y="404495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111750" y="377825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318125" y="351155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524500" y="324485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30875" y="297815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937250" y="271145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143625" y="244475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299200" y="2260600"/>
            <a:ext cx="101600" cy="1016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6350000" y="231140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556375" y="257810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762750" y="284480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969125" y="311150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175500" y="337820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381875" y="364490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588250" y="391160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794625" y="4178300"/>
            <a:ext cx="103187" cy="133350"/>
          </a:xfrm>
          <a:prstGeom prst="line">
            <a:avLst/>
          </a:prstGeom>
          <a:ln w="381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7950200" y="4394200"/>
            <a:ext cx="101600" cy="1016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41400" y="5397500"/>
            <a:ext cx="692716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203B3B"/>
                </a:solidFill>
                <a:latin typeface="Arial"/>
              </a:defRPr>
            </a:pPr>
            <a:r>
              <a:t>Low effort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92400" y="5397500"/>
            <a:ext cx="490786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203B3B"/>
                </a:solidFill>
                <a:latin typeface="Arial"/>
              </a:defRPr>
            </a:pPr>
            <a:r>
              <a:t>Speed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43400" y="5397500"/>
            <a:ext cx="65502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203B3B"/>
                </a:solidFill>
                <a:latin typeface="Arial"/>
              </a:defRPr>
            </a:pPr>
            <a:r>
              <a:t>Flexibility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94400" y="5397500"/>
            <a:ext cx="827336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203B3B"/>
                </a:solidFill>
                <a:latin typeface="Arial"/>
              </a:defRPr>
            </a:pPr>
            <a:r>
              <a:t>Human help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45400" y="5397500"/>
            <a:ext cx="63281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203B3B"/>
                </a:solidFill>
                <a:latin typeface="Arial"/>
              </a:defRPr>
            </a:pPr>
            <a:r>
              <a:t>Low cost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30500" y="5803900"/>
            <a:ext cx="1901832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526B69"/>
                </a:solidFill>
                <a:latin typeface="Arial"/>
              </a:defRPr>
            </a:pPr>
            <a:r>
              <a:t>Customer-valued factors 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40800" y="1841500"/>
            <a:ext cx="2794000" cy="193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940800" y="1841500"/>
            <a:ext cx="50800" cy="19304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4000" y="2006600"/>
            <a:ext cx="1881411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Compare deliberately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2336800"/>
            <a:ext cx="1845871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Dashed teal: proposed offer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0" y="2565400"/>
            <a:ext cx="193209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Solid gold: current alternative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0" y="2794000"/>
            <a:ext cx="1016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</a:p>
        </p:txBody>
      </p:sp>
      <p:sp>
        <p:nvSpPr>
          <p:cNvPr id="78" name="TextBox 77"/>
          <p:cNvSpPr txBox="1"/>
          <p:nvPr/>
        </p:nvSpPr>
        <p:spPr>
          <a:xfrm>
            <a:off x="9144000" y="3022600"/>
            <a:ext cx="1846154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Segment: ______________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0" y="3251200"/>
            <a:ext cx="185378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Basis of score: __________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40800" y="4000500"/>
            <a:ext cx="2794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940800" y="4000500"/>
            <a:ext cx="50800" cy="20828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0" y="4165600"/>
            <a:ext cx="1910112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Choose the trade-offs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44000" y="4495800"/>
            <a:ext cx="1861702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Eliminate: ______________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0" y="4724400"/>
            <a:ext cx="200333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Reduce: _________________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0" y="4953000"/>
            <a:ext cx="195612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Raise: __________________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44000" y="5181600"/>
            <a:ext cx="194043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Create: _________________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0" y="5410200"/>
            <a:ext cx="1987222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Test value, not just difference.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2558684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087F78"/>
                </a:solidFill>
                <a:latin typeface="Arial"/>
              </a:defRPr>
            </a:pPr>
            <a:r>
              <a:t>STYLUS NEXUS  /  PRODUCT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9600"/>
            <a:ext cx="8186877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203B3B"/>
                </a:solidFill>
                <a:latin typeface="Arial"/>
              </a:defRPr>
            </a:pPr>
            <a:r>
              <a:t>Test the assumptions that can break 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7600"/>
            <a:ext cx="6809270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526B69"/>
                </a:solidFill>
                <a:latin typeface="Arial"/>
              </a:defRPr>
            </a:pPr>
            <a:r>
              <a:t>Map one claim per note · Importance means impact if false; evidence means relevant, reliable support.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859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3246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02400"/>
            <a:ext cx="4261142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526B69"/>
                </a:solidFill>
                <a:latin typeface="Arial"/>
              </a:defRPr>
            </a:pPr>
            <a:r>
              <a:t>Original Stylus Nexus artwork · MIT · Working template: replace prompts with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1930400"/>
            <a:ext cx="8128000" cy="350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9200" y="1930400"/>
            <a:ext cx="4064000" cy="17526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283200" y="1930400"/>
            <a:ext cx="0" cy="350520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19200" y="3683000"/>
            <a:ext cx="81280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22400" y="2108200"/>
            <a:ext cx="949073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87F78"/>
                </a:solidFill>
                <a:latin typeface="Arial"/>
              </a:defRPr>
            </a:pPr>
            <a:r>
              <a:t>TEST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08200"/>
            <a:ext cx="1677192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87F78"/>
                </a:solidFill>
                <a:latin typeface="Arial"/>
              </a:defRPr>
            </a:pPr>
            <a:r>
              <a:t>MONITOR + PROTECT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2400" y="3873500"/>
            <a:ext cx="1557986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87F78"/>
                </a:solidFill>
                <a:latin typeface="Arial"/>
              </a:defRPr>
            </a:pPr>
            <a:r>
              <a:t>EXPLORE CHEAPLY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873500"/>
            <a:ext cx="603449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87F78"/>
                </a:solidFill>
                <a:latin typeface="Arial"/>
              </a:defRPr>
            </a:pPr>
            <a:r>
              <a:t>DEFER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1676400"/>
            <a:ext cx="120023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High importance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5588000"/>
            <a:ext cx="962091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Little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3000" y="5588000"/>
            <a:ext cx="124465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Strong evidence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05500"/>
            <a:ext cx="5113879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526B69"/>
                </a:solidFill>
                <a:latin typeface="Arial"/>
              </a:defRPr>
            </a:pPr>
            <a:r>
              <a:t>Low importance at bottom · Move notes only when new evidence warrants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9400" y="2578100"/>
            <a:ext cx="3352800" cy="762000"/>
          </a:xfrm>
          <a:prstGeom prst="rect">
            <a:avLst/>
          </a:prstGeom>
          <a:solidFill>
            <a:srgbClr val="F5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01800" y="2717800"/>
            <a:ext cx="2406052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203B3B"/>
                </a:solidFill>
                <a:latin typeface="Arial"/>
              </a:defRPr>
            </a:pPr>
            <a:r>
              <a:t>H1: [segment] will change behavior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1800" y="2997200"/>
            <a:ext cx="2340599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203B3B"/>
                </a:solidFill>
                <a:latin typeface="Arial"/>
              </a:defRPr>
            </a:pPr>
            <a:r>
              <a:t>because [benefit] matters enough.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26600" y="1930400"/>
            <a:ext cx="2108200" cy="350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26600" y="1930400"/>
            <a:ext cx="50800" cy="35052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095500"/>
            <a:ext cx="97698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Plan a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425700"/>
            <a:ext cx="1350718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Claim ID: ________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654300"/>
            <a:ext cx="1016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9829800" y="2882900"/>
            <a:ext cx="949988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Smallest test: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111500"/>
            <a:ext cx="1359058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340100"/>
            <a:ext cx="1016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9829800" y="3568700"/>
            <a:ext cx="1303507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Decision threshold: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3797300"/>
            <a:ext cx="1359058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4025900"/>
            <a:ext cx="1016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9829800" y="4254500"/>
            <a:ext cx="95013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Owner / date: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4483100"/>
            <a:ext cx="1359058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________________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2558684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087F78"/>
                </a:solidFill>
                <a:latin typeface="Arial"/>
              </a:defRPr>
            </a:pPr>
            <a:r>
              <a:t>STYLUS NEXUS  /  PRODUCT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9600"/>
            <a:ext cx="7893244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203B3B"/>
                </a:solidFill>
                <a:latin typeface="Arial"/>
              </a:defRPr>
            </a:pPr>
            <a:r>
              <a:t>Follow the job through the customer’s eyes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7600"/>
            <a:ext cx="6394196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526B69"/>
                </a:solidFill>
                <a:latin typeface="Arial"/>
              </a:defRPr>
            </a:pPr>
            <a:r>
              <a:t>Define one segment + scenario · Separate observed evidence from hypotheses and team ideas.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859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3246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02400"/>
            <a:ext cx="4261142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526B69"/>
                </a:solidFill>
                <a:latin typeface="Arial"/>
              </a:defRPr>
            </a:pPr>
            <a:r>
              <a:t>Original Stylus Nexus artwork · MIT · Working template: replace prompts with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8200" y="1816100"/>
            <a:ext cx="1841500" cy="5461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35200" y="1968500"/>
            <a:ext cx="750872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Trigger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5900" y="1816100"/>
            <a:ext cx="1841500" cy="5461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52900" y="1968500"/>
            <a:ext cx="7929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Explore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816100"/>
            <a:ext cx="1841500" cy="5461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70600" y="1968500"/>
            <a:ext cx="792712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Choose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1300" y="1816100"/>
            <a:ext cx="1841500" cy="5461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8300" y="1968500"/>
            <a:ext cx="44725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79000" y="1816100"/>
            <a:ext cx="1841500" cy="5461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6000" y="1968500"/>
            <a:ext cx="918231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Continue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03500"/>
            <a:ext cx="104407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87F78"/>
                </a:solidFill>
                <a:latin typeface="Arial"/>
              </a:defRPr>
            </a:pPr>
            <a:r>
              <a:t>Customer goal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8200" y="24638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22500" y="2590800"/>
            <a:ext cx="105174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What progress?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22500" y="28321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5900" y="24638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40200" y="2590800"/>
            <a:ext cx="105174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What progress?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40200" y="28321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4638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7900" y="2590800"/>
            <a:ext cx="105174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What progress?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7900" y="28321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1300" y="24638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5600" y="2590800"/>
            <a:ext cx="105174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What progress?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5600" y="28321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79000" y="24638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93300" y="2590800"/>
            <a:ext cx="105174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What progress?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300" y="28321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302000"/>
            <a:ext cx="1369316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87F78"/>
                </a:solidFill>
                <a:latin typeface="Arial"/>
              </a:defRPr>
            </a:pPr>
            <a:r>
              <a:t>Action + touchpoint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08200" y="31623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22500" y="3289300"/>
            <a:ext cx="104447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What happens?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22500" y="35306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5900" y="31623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40200" y="3289300"/>
            <a:ext cx="104447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What happens?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40200" y="35306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31623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57900" y="3289300"/>
            <a:ext cx="104447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What happens?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57900" y="35306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1300" y="31623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75600" y="3289300"/>
            <a:ext cx="104447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What happens?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5600" y="35306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79000" y="31623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93300" y="3289300"/>
            <a:ext cx="104447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What happens?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93300" y="35306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000500"/>
            <a:ext cx="1231061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87F78"/>
                </a:solidFill>
                <a:latin typeface="Arial"/>
              </a:defRPr>
            </a:pPr>
            <a:r>
              <a:t>Friction / emotion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08200" y="38608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22500" y="3987800"/>
            <a:ext cx="127629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Where is the effort?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22500" y="42291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25900" y="38608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40200" y="3987800"/>
            <a:ext cx="127629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Where is the effort?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40200" y="42291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38608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57900" y="3987800"/>
            <a:ext cx="127629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Where is the effort?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57900" y="42291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1300" y="38608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75600" y="3987800"/>
            <a:ext cx="127629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Where is the effort?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75600" y="42291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79000" y="38608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93300" y="3987800"/>
            <a:ext cx="127629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Where is the effort?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93300" y="42291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699000"/>
            <a:ext cx="692716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87F78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08200" y="45593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22500" y="4686300"/>
            <a:ext cx="117909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Source / unknown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22500" y="49276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25900" y="45593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40200" y="4686300"/>
            <a:ext cx="117909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Source / unknown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40200" y="49276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0" y="45593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57900" y="4686300"/>
            <a:ext cx="117909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Source / unknown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57900" y="49276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61300" y="45593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75600" y="4686300"/>
            <a:ext cx="117909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Source / unknown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75600" y="49276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779000" y="45593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93300" y="4686300"/>
            <a:ext cx="117909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Source / unknown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93300" y="49276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5397500"/>
            <a:ext cx="8718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87F78"/>
                </a:solidFill>
                <a:latin typeface="Arial"/>
              </a:defRPr>
            </a:pPr>
            <a:r>
              <a:t>Opportunity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08200" y="52578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222500" y="5384800"/>
            <a:ext cx="111165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Next test / owner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22500" y="56261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25900" y="52578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40200" y="5384800"/>
            <a:ext cx="111165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Next test / owner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40200" y="56261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0" y="52578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57900" y="5384800"/>
            <a:ext cx="111165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Next test / owner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57900" y="56261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861300" y="52578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975600" y="5384800"/>
            <a:ext cx="111165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Next test / owner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975600" y="56261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779000" y="5257800"/>
            <a:ext cx="18415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893300" y="5384800"/>
            <a:ext cx="111165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Next test / owner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93300" y="5626100"/>
            <a:ext cx="12991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6096000"/>
            <a:ext cx="7241306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Scenario: ____________________    Segment: ____________________    Interview / source: ____________________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2558684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087F78"/>
                </a:solidFill>
                <a:latin typeface="Arial"/>
              </a:defRPr>
            </a:pPr>
            <a:r>
              <a:t>STYLUS NEXUS  /  PRODUCT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9600"/>
            <a:ext cx="4584122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203B3B"/>
                </a:solidFill>
                <a:latin typeface="Arial"/>
              </a:defRPr>
            </a:pPr>
            <a:r>
              <a:t>Product Strategy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7600"/>
            <a:ext cx="7584923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526B69"/>
                </a:solidFill>
                <a:latin typeface="Arial"/>
              </a:defRPr>
            </a:pPr>
            <a:r>
              <a:t>Product / owner: __________________    Segment: __________________    Date / status: __________________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859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3246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02400"/>
            <a:ext cx="5008122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526B69"/>
                </a:solidFill>
                <a:latin typeface="Arial"/>
              </a:defRPr>
            </a:pPr>
            <a:r>
              <a:t>Adapted layout: Paweł Huryn / The Product Compass · Product Strategy Canvas v1.2 · CC BY-SA 4.0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65300"/>
            <a:ext cx="21844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65300"/>
            <a:ext cx="50800" cy="15875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400" y="1930400"/>
            <a:ext cx="626793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00" y="2260600"/>
            <a:ext cx="1437084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Future worth creating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" y="2489200"/>
            <a:ext cx="175159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Values that shape choices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2857500"/>
            <a:ext cx="1489101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Choice: 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" y="3086100"/>
            <a:ext cx="1475652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Evidence: 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30500" y="1765300"/>
            <a:ext cx="21844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30500" y="1765300"/>
            <a:ext cx="50800" cy="15875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3700" y="1930400"/>
            <a:ext cx="155064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Market Segments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3700" y="2260600"/>
            <a:ext cx="15120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Jobs + chosen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3700" y="2489200"/>
            <a:ext cx="157066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Who are we excluding?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3700" y="2857500"/>
            <a:ext cx="1489101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Choice: 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3700" y="3086100"/>
            <a:ext cx="1475652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Evidence: ____________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3800" y="1765300"/>
            <a:ext cx="21844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03800" y="1765300"/>
            <a:ext cx="50800" cy="15875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7000" y="1930400"/>
            <a:ext cx="1307566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Relative Costs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7000" y="2260600"/>
            <a:ext cx="166112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Advantage + cost drivers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7000" y="2489200"/>
            <a:ext cx="1672999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Broad or focused scope?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7000" y="2857500"/>
            <a:ext cx="1489101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Choice: ______________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000" y="3086100"/>
            <a:ext cx="1475652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Evidence: ____________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77100" y="1765300"/>
            <a:ext cx="21844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77100" y="1765300"/>
            <a:ext cx="50800" cy="15875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80300" y="1930400"/>
            <a:ext cx="1589501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Value Proposition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0300" y="2260600"/>
            <a:ext cx="149631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Before → how → after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0300" y="2489200"/>
            <a:ext cx="1551154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Alternative + difference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0300" y="2857500"/>
            <a:ext cx="1489101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Choice: ______________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0300" y="3086100"/>
            <a:ext cx="1475652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Evidence: ____________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50400" y="1765300"/>
            <a:ext cx="21844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50400" y="1765300"/>
            <a:ext cx="50800" cy="15875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53600" y="1930400"/>
            <a:ext cx="957204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Trade-offs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3600" y="2260600"/>
            <a:ext cx="1551013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What we decline + why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3600" y="2489200"/>
            <a:ext cx="1613631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Sacrifice + revisit trigger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3600" y="2857500"/>
            <a:ext cx="1489101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Choice: ______________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3600" y="3086100"/>
            <a:ext cx="1475652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Evidence: ____________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505200"/>
            <a:ext cx="21844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3505200"/>
            <a:ext cx="50800" cy="15875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0400" y="3670300"/>
            <a:ext cx="1083908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00" y="4000500"/>
            <a:ext cx="138605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Outcome + guardrail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400" y="4229100"/>
            <a:ext cx="1665083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Baseline / target / source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400" y="4597400"/>
            <a:ext cx="1489101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Choice: ______________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400" y="4826000"/>
            <a:ext cx="1475652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Evidence: ____________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30500" y="3505200"/>
            <a:ext cx="21844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30500" y="3505200"/>
            <a:ext cx="50800" cy="15875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33700" y="3670300"/>
            <a:ext cx="714121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33700" y="4000500"/>
            <a:ext cx="1747491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Channels + growth motion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33700" y="4229100"/>
            <a:ext cx="1763322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Retention logic + evidence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33700" y="4597400"/>
            <a:ext cx="1489101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Choice: ______________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33700" y="4826000"/>
            <a:ext cx="1475652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Evidence: ____________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03800" y="3505200"/>
            <a:ext cx="21844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03800" y="3505200"/>
            <a:ext cx="50800" cy="15875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07000" y="3670300"/>
            <a:ext cx="1083908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Capabilities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07000" y="4000500"/>
            <a:ext cx="137022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Abilities + resources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07000" y="4229100"/>
            <a:ext cx="1598224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Current gaps + partners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07000" y="4597400"/>
            <a:ext cx="1489101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Choice: ______________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07000" y="4826000"/>
            <a:ext cx="1475652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Evidence: ____________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77100" y="3505200"/>
            <a:ext cx="21844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277100" y="3505200"/>
            <a:ext cx="50800" cy="15875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80300" y="3670300"/>
            <a:ext cx="1171061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Can’t / Won’t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80300" y="4000500"/>
            <a:ext cx="1374324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Who could copy us?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80300" y="4229100"/>
            <a:ext cx="186509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Barriers + incentive conflicts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80300" y="4597400"/>
            <a:ext cx="1489101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Choice: ______________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80300" y="4826000"/>
            <a:ext cx="1475652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Evidence: ____________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50400" y="3505200"/>
            <a:ext cx="21844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550400" y="3505200"/>
            <a:ext cx="50800" cy="15875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53600" y="3670300"/>
            <a:ext cx="1171411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Ask Yourself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53600" y="4000500"/>
            <a:ext cx="1468464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Do choices reinforce?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53600" y="4229100"/>
            <a:ext cx="1959658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Tensions + what must be true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53600" y="4597400"/>
            <a:ext cx="1489101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Choice: ______________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53600" y="4826000"/>
            <a:ext cx="1475652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526B69"/>
                </a:solidFill>
                <a:latin typeface="Arial"/>
              </a:defRPr>
            </a:pPr>
            <a:r>
              <a:t>Evidence: ____________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422900"/>
            <a:ext cx="11277600" cy="6858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2300" y="5549900"/>
            <a:ext cx="6448246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203B3B"/>
                </a:solidFill>
                <a:latin typeface="Arial"/>
              </a:defRPr>
            </a:pPr>
            <a:r>
              <a:t>Consequential choice: __________________   Riskiest assumption / test: __________________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2300" y="5816600"/>
            <a:ext cx="715111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Owner: __________________    Next review trigger: __________________    Linked objective: __________________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2558684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087F78"/>
                </a:solidFill>
                <a:latin typeface="Arial"/>
              </a:defRPr>
            </a:pPr>
            <a:r>
              <a:t>STYLUS NEXUS  /  PRODUCT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9600"/>
            <a:ext cx="9024805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203B3B"/>
                </a:solidFill>
                <a:latin typeface="Arial"/>
              </a:defRPr>
            </a:pPr>
            <a:r>
              <a:t>Connect customer progress to a credible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7600"/>
            <a:ext cx="7370649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526B69"/>
                </a:solidFill>
                <a:latin typeface="Arial"/>
              </a:defRPr>
            </a:pPr>
            <a:r>
              <a:t>Product: ______________    Segment / context: ______________    Decision: ______________    Status: draft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859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324600"/>
            <a:ext cx="11277600" cy="0"/>
          </a:xfrm>
          <a:prstGeom prst="line">
            <a:avLst/>
          </a:prstGeom>
          <a:ln w="12700">
            <a:solidFill>
              <a:srgbClr val="CA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02400"/>
            <a:ext cx="5292547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526B69"/>
                </a:solidFill>
                <a:latin typeface="Arial"/>
              </a:defRPr>
            </a:pPr>
            <a:r>
              <a:t>Adapted layout: Paweł Huryn / Product Compass + Aatir Abdul Rauf / Behind Product Lines · CC BY-SA 4.0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03400"/>
            <a:ext cx="27051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03400"/>
            <a:ext cx="50800" cy="17653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400" y="1968500"/>
            <a:ext cx="1210438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01  Job /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00" y="2298700"/>
            <a:ext cx="160981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What progress matters?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" y="2527300"/>
            <a:ext cx="1444999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When and for whom?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2984500"/>
            <a:ext cx="191291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V1: 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" y="3276600"/>
            <a:ext cx="189796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4700" y="1803400"/>
            <a:ext cx="27051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4700" y="1803400"/>
            <a:ext cx="50800" cy="17653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7900" y="1968500"/>
            <a:ext cx="185218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02  Existing situation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7900" y="2298700"/>
            <a:ext cx="1476662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What happens today?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7900" y="2527300"/>
            <a:ext cx="188502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Cost / friction / consequence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7900" y="2984500"/>
            <a:ext cx="191291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V1: _____________________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7900" y="3276600"/>
            <a:ext cx="189796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________________________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803400"/>
            <a:ext cx="27051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803400"/>
            <a:ext cx="50800" cy="17653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5400" y="1968500"/>
            <a:ext cx="1988514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03  Enabling capability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5400" y="2298700"/>
            <a:ext cx="1256296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How does it work?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5400" y="2527300"/>
            <a:ext cx="1955701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Why would behavior change?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5400" y="2984500"/>
            <a:ext cx="191291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V1: _____________________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5400" y="3276600"/>
            <a:ext cx="189796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________________________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9700" y="1803400"/>
            <a:ext cx="27051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29700" y="1803400"/>
            <a:ext cx="50800" cy="17653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2900" y="1968500"/>
            <a:ext cx="1657753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04  Desired benefit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2900" y="2298700"/>
            <a:ext cx="1523591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What becomes better?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2900" y="2527300"/>
            <a:ext cx="1405704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Observable outcome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2900" y="2984500"/>
            <a:ext cx="191291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V1: _____________________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2900" y="3276600"/>
            <a:ext cx="189796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________________________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784600"/>
            <a:ext cx="3606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784600"/>
            <a:ext cx="50800" cy="13716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400" y="3949700"/>
            <a:ext cx="2139194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Alternatives + difference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400" y="4279900"/>
            <a:ext cx="260803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Include workarounds and doing nothing.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400" y="4508500"/>
            <a:ext cx="214398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Why would this segment switch?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400" y="4851400"/>
            <a:ext cx="249675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________________________________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2600" y="3784600"/>
            <a:ext cx="3606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2600" y="3784600"/>
            <a:ext cx="50800" cy="13716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95800" y="3949700"/>
            <a:ext cx="1934962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Evidence + unknowns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5800" y="4279900"/>
            <a:ext cx="199485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Which link in V1 is supported?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95800" y="4508500"/>
            <a:ext cx="21837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Source / hypothesis / confidence: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95800" y="4851400"/>
            <a:ext cx="249675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________________________________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28000" y="3784600"/>
            <a:ext cx="3606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0" y="3784600"/>
            <a:ext cx="50800" cy="13716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1200" y="3949700"/>
            <a:ext cx="8406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87F78"/>
                </a:solidFill>
                <a:latin typeface="Arial"/>
              </a:defRPr>
            </a:pPr>
            <a:r>
              <a:t>Next test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1200" y="4279900"/>
            <a:ext cx="2820062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What evidence would change the decision?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1200" y="4508500"/>
            <a:ext cx="1649393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526B69"/>
                </a:solidFill>
                <a:latin typeface="Arial"/>
              </a:defRPr>
            </a:pPr>
            <a:r>
              <a:t>Owner / threshold / date: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1200" y="4851400"/>
            <a:ext cx="249675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CADBD5"/>
                </a:solidFill>
                <a:latin typeface="Arial"/>
              </a:defRPr>
            </a:pPr>
            <a:r>
              <a:t>________________________________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384800"/>
            <a:ext cx="11277600" cy="723900"/>
          </a:xfrm>
          <a:prstGeom prst="rect">
            <a:avLst/>
          </a:prstGeom>
          <a:solidFill>
            <a:srgbClr val="E6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2300" y="5511800"/>
            <a:ext cx="6011404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203B3B"/>
                </a:solidFill>
                <a:latin typeface="Arial"/>
              </a:defRPr>
            </a:pPr>
            <a:r>
              <a:t>Optional message: For [audience], achieve [benefit] through [understandable mechanism].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2300" y="5791200"/>
            <a:ext cx="651408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526B69"/>
                </a:solidFill>
                <a:latin typeface="Arial"/>
              </a:defRPr>
            </a:pPr>
            <a:r>
              <a:t>Link to V1 evidence. Test comprehension, relevance and credibility; test adoption and outcomes separately.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